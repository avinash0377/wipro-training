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3" r:id="rId8"/>
    <p:sldId id="261" r:id="rId9"/>
    <p:sldId id="267" r:id="rId10"/>
    <p:sldId id="264" r:id="rId11"/>
    <p:sldId id="265" r:id="rId12"/>
  </p:sldIdLst>
  <p:sldSz cx="14630400" cy="8229600"/>
  <p:notesSz cx="8229600" cy="14630400"/>
  <p:embeddedFontLst>
    <p:embeddedFont>
      <p:font typeface="Alice" panose="020B0604020202020204" charset="0"/>
      <p:regular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Lora" pitchFamily="2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236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671F0-6B54-2838-8E4A-FE3AE135A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3B23C-E773-53A3-7F23-AB39C907B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EC8F5-7BF8-760A-C49F-32B22C72B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8CCD-D01B-6589-51AB-9AE0F3A0C7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95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37" y="3513170"/>
            <a:ext cx="6408009" cy="396407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785" y="3524746"/>
            <a:ext cx="5690379" cy="37592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4871" y="957143"/>
            <a:ext cx="12779241" cy="2538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Introduction to Git, GitHub, and Integration with VS Code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6239828" y="331029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6D6D20-BAE7-F504-6C49-6C60936B2565}"/>
              </a:ext>
            </a:extLst>
          </p:cNvPr>
          <p:cNvSpPr txBox="1"/>
          <p:nvPr/>
        </p:nvSpPr>
        <p:spPr>
          <a:xfrm>
            <a:off x="12581681" y="7708739"/>
            <a:ext cx="2048719" cy="520861"/>
          </a:xfrm>
          <a:prstGeom prst="rect">
            <a:avLst/>
          </a:prstGeom>
          <a:solidFill>
            <a:srgbClr val="FCFB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67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is Git?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20873"/>
            <a:ext cx="3688675" cy="2849285"/>
          </a:xfrm>
          <a:prstGeom prst="roundRect">
            <a:avLst>
              <a:gd name="adj" fmla="val 119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0604" y="2447687"/>
            <a:ext cx="32350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Distributed Version Control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383161"/>
            <a:ext cx="32350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Created by Linus Torvalds in 2005, Git is a powerful system that tracks changes in source code.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709279" y="2220873"/>
            <a:ext cx="3688794" cy="2849285"/>
          </a:xfrm>
          <a:prstGeom prst="roundRect">
            <a:avLst>
              <a:gd name="adj" fmla="val 119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36093" y="2447687"/>
            <a:ext cx="31307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Collaboration Made Easy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36093" y="3028831"/>
            <a:ext cx="323516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It allows multiple developers to work on the same project simultaneously without overwriting each other's contributions.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296972"/>
            <a:ext cx="7604284" cy="1760577"/>
          </a:xfrm>
          <a:prstGeom prst="roundRect">
            <a:avLst>
              <a:gd name="adj" fmla="val 1933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0604" y="55237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Snapshots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6104930"/>
            <a:ext cx="71506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stores snapshots of your project's entire history, providing a complete record of every change, not just file differences.</a:t>
            </a:r>
            <a:endParaRPr lang="en-US" sz="17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220873"/>
            <a:ext cx="4885015" cy="32557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09DB71-4AEA-35C2-FA20-8ED6C87EC115}"/>
              </a:ext>
            </a:extLst>
          </p:cNvPr>
          <p:cNvSpPr txBox="1"/>
          <p:nvPr/>
        </p:nvSpPr>
        <p:spPr>
          <a:xfrm>
            <a:off x="12454359" y="7465671"/>
            <a:ext cx="2176041" cy="763929"/>
          </a:xfrm>
          <a:prstGeom prst="rect">
            <a:avLst/>
          </a:prstGeom>
          <a:solidFill>
            <a:srgbClr val="FCFB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052" y="477679"/>
            <a:ext cx="4343281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is GitHub?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2" y="1476494"/>
            <a:ext cx="5111353" cy="287512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50888" y="1476494"/>
            <a:ext cx="7878961" cy="1394103"/>
          </a:xfrm>
          <a:prstGeom prst="roundRect">
            <a:avLst>
              <a:gd name="adj" fmla="val 7871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128028" y="1476494"/>
            <a:ext cx="91440" cy="1394103"/>
          </a:xfrm>
          <a:prstGeom prst="roundRect">
            <a:avLst>
              <a:gd name="adj" fmla="val 2850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16040" y="1673066"/>
            <a:ext cx="21715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Cloud-Based Hosting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16040" y="2118241"/>
            <a:ext cx="7417237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GitHub provides a robust, cloud-based platform for hosting Git repositories, accessible from anywhere.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50888" y="3044309"/>
            <a:ext cx="7878961" cy="1394103"/>
          </a:xfrm>
          <a:prstGeom prst="roundRect">
            <a:avLst>
              <a:gd name="adj" fmla="val 7871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128028" y="3044309"/>
            <a:ext cx="91440" cy="1394103"/>
          </a:xfrm>
          <a:prstGeom prst="roundRect">
            <a:avLst>
              <a:gd name="adj" fmla="val 2850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16040" y="3240881"/>
            <a:ext cx="280451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Powerful Collaboration Tools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16040" y="3686056"/>
            <a:ext cx="7417237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It offers features like pull requests, issue tracking, and code reviews to facilitate team cooperation.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150888" y="4623699"/>
            <a:ext cx="7878961" cy="1394103"/>
          </a:xfrm>
          <a:prstGeom prst="roundRect">
            <a:avLst>
              <a:gd name="adj" fmla="val 7871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6128028" y="4612124"/>
            <a:ext cx="91440" cy="1394103"/>
          </a:xfrm>
          <a:prstGeom prst="roundRect">
            <a:avLst>
              <a:gd name="adj" fmla="val 2850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16040" y="4808696"/>
            <a:ext cx="217158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Global Code Sharing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16040" y="5253871"/>
            <a:ext cx="7417237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Share your code publicly or privately with development teams around the world, fostering open source and private projects.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150888" y="6179939"/>
            <a:ext cx="7878961" cy="1394103"/>
          </a:xfrm>
          <a:prstGeom prst="roundRect">
            <a:avLst>
              <a:gd name="adj" fmla="val 7871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128028" y="6179939"/>
            <a:ext cx="91440" cy="1394103"/>
          </a:xfrm>
          <a:prstGeom prst="roundRect">
            <a:avLst>
              <a:gd name="adj" fmla="val 2850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416040" y="6376511"/>
            <a:ext cx="288940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Seamless VS Code Integration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16040" y="6821686"/>
            <a:ext cx="7417237" cy="55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GitHub integrates directly with Visual Studio Code, creating a smooth and efficient development workflow.</a:t>
            </a:r>
            <a:endParaRPr lang="en-US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28DB1E-9AE3-FCCA-BA73-66F27D69CFC6}"/>
              </a:ext>
            </a:extLst>
          </p:cNvPr>
          <p:cNvSpPr txBox="1"/>
          <p:nvPr/>
        </p:nvSpPr>
        <p:spPr>
          <a:xfrm>
            <a:off x="12570106" y="7574042"/>
            <a:ext cx="2060294" cy="555784"/>
          </a:xfrm>
          <a:prstGeom prst="rect">
            <a:avLst/>
          </a:prstGeom>
          <a:solidFill>
            <a:srgbClr val="FCFB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E49ED-AE68-4C8C-2501-010F5877D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068A28-8039-4FC8-7661-F93425B3D09E}"/>
              </a:ext>
            </a:extLst>
          </p:cNvPr>
          <p:cNvSpPr/>
          <p:nvPr/>
        </p:nvSpPr>
        <p:spPr>
          <a:xfrm>
            <a:off x="491133" y="179366"/>
            <a:ext cx="6656070" cy="43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Essential Git Commands You Should Know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D130305-8080-7ECB-5D70-B5E3E32AE77D}"/>
              </a:ext>
            </a:extLst>
          </p:cNvPr>
          <p:cNvSpPr/>
          <p:nvPr/>
        </p:nvSpPr>
        <p:spPr>
          <a:xfrm>
            <a:off x="418652" y="1271636"/>
            <a:ext cx="561380" cy="842010"/>
          </a:xfrm>
          <a:prstGeom prst="roundRect">
            <a:avLst>
              <a:gd name="adj" fmla="val 360013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266719-FEBF-3222-DCF1-4E63398BCFD4}"/>
              </a:ext>
            </a:extLst>
          </p:cNvPr>
          <p:cNvSpPr/>
          <p:nvPr/>
        </p:nvSpPr>
        <p:spPr>
          <a:xfrm>
            <a:off x="699341" y="1527572"/>
            <a:ext cx="210503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38D9DB-6605-6846-E2D1-7A76BD6436D7}"/>
              </a:ext>
            </a:extLst>
          </p:cNvPr>
          <p:cNvSpPr/>
          <p:nvPr/>
        </p:nvSpPr>
        <p:spPr>
          <a:xfrm>
            <a:off x="1140494" y="1424206"/>
            <a:ext cx="1754267" cy="43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 init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A7C104F-849A-D799-1048-821E15E88F5D}"/>
              </a:ext>
            </a:extLst>
          </p:cNvPr>
          <p:cNvSpPr/>
          <p:nvPr/>
        </p:nvSpPr>
        <p:spPr>
          <a:xfrm>
            <a:off x="1140495" y="1964872"/>
            <a:ext cx="12946499" cy="538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Initializes a new local Git repository in your project folder.</a:t>
            </a:r>
            <a:endParaRPr lang="en-US" sz="2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5236F19-E76F-8E78-40F6-4F60C289314A}"/>
              </a:ext>
            </a:extLst>
          </p:cNvPr>
          <p:cNvSpPr/>
          <p:nvPr/>
        </p:nvSpPr>
        <p:spPr>
          <a:xfrm>
            <a:off x="460131" y="2742426"/>
            <a:ext cx="561380" cy="842010"/>
          </a:xfrm>
          <a:prstGeom prst="roundRect">
            <a:avLst>
              <a:gd name="adj" fmla="val 360013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1772EA5-221A-7035-4FE9-A3A9D9D773CE}"/>
              </a:ext>
            </a:extLst>
          </p:cNvPr>
          <p:cNvSpPr/>
          <p:nvPr/>
        </p:nvSpPr>
        <p:spPr>
          <a:xfrm>
            <a:off x="666512" y="3020992"/>
            <a:ext cx="243333" cy="462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302E72C-FF70-E973-2621-09150F989EFF}"/>
              </a:ext>
            </a:extLst>
          </p:cNvPr>
          <p:cNvSpPr/>
          <p:nvPr/>
        </p:nvSpPr>
        <p:spPr>
          <a:xfrm>
            <a:off x="1140495" y="2850188"/>
            <a:ext cx="1754267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 clone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19831B-03BA-FAE5-8D13-9D5FDCB61980}"/>
              </a:ext>
            </a:extLst>
          </p:cNvPr>
          <p:cNvSpPr/>
          <p:nvPr/>
        </p:nvSpPr>
        <p:spPr>
          <a:xfrm>
            <a:off x="1140495" y="3313629"/>
            <a:ext cx="12946499" cy="465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Creates a local copy of a remote repository from GitHub or another source.</a:t>
            </a:r>
            <a:endParaRPr lang="en-US" sz="2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0FD89F3-64F6-114A-3078-CA64DA2081A9}"/>
              </a:ext>
            </a:extLst>
          </p:cNvPr>
          <p:cNvSpPr/>
          <p:nvPr/>
        </p:nvSpPr>
        <p:spPr>
          <a:xfrm>
            <a:off x="491073" y="4186254"/>
            <a:ext cx="561380" cy="842010"/>
          </a:xfrm>
          <a:prstGeom prst="roundRect">
            <a:avLst>
              <a:gd name="adj" fmla="val 360013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478873-EFB6-F8B3-5539-7EAF409B9217}"/>
              </a:ext>
            </a:extLst>
          </p:cNvPr>
          <p:cNvSpPr/>
          <p:nvPr/>
        </p:nvSpPr>
        <p:spPr>
          <a:xfrm>
            <a:off x="749382" y="4475695"/>
            <a:ext cx="210503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D42AB07-C2DD-4C3B-6A12-455A6519D440}"/>
              </a:ext>
            </a:extLst>
          </p:cNvPr>
          <p:cNvSpPr/>
          <p:nvPr/>
        </p:nvSpPr>
        <p:spPr>
          <a:xfrm>
            <a:off x="1218194" y="4111753"/>
            <a:ext cx="1754267" cy="431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 status</a:t>
            </a:r>
            <a:endParaRPr lang="en-US" sz="2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310816B-3C25-D993-43C2-0B689E15DC0A}"/>
              </a:ext>
            </a:extLst>
          </p:cNvPr>
          <p:cNvSpPr/>
          <p:nvPr/>
        </p:nvSpPr>
        <p:spPr>
          <a:xfrm>
            <a:off x="1227892" y="4615174"/>
            <a:ext cx="12946499" cy="52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Displays the state of the working directory and staging area, showing changes and branch information.</a:t>
            </a:r>
            <a:endParaRPr lang="en-US" sz="2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B33B265-4255-E3CB-8712-7F868B249AD7}"/>
              </a:ext>
            </a:extLst>
          </p:cNvPr>
          <p:cNvSpPr/>
          <p:nvPr/>
        </p:nvSpPr>
        <p:spPr>
          <a:xfrm>
            <a:off x="494000" y="5703808"/>
            <a:ext cx="561380" cy="842010"/>
          </a:xfrm>
          <a:prstGeom prst="roundRect">
            <a:avLst>
              <a:gd name="adj" fmla="val 360013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DA3A4D0-EB95-722A-04E6-4A169575A8F8}"/>
              </a:ext>
            </a:extLst>
          </p:cNvPr>
          <p:cNvSpPr/>
          <p:nvPr/>
        </p:nvSpPr>
        <p:spPr>
          <a:xfrm>
            <a:off x="666512" y="5993249"/>
            <a:ext cx="210503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1D18CEA-99A8-C026-6A65-D44632C9C497}"/>
              </a:ext>
            </a:extLst>
          </p:cNvPr>
          <p:cNvSpPr/>
          <p:nvPr/>
        </p:nvSpPr>
        <p:spPr>
          <a:xfrm>
            <a:off x="1227892" y="5566000"/>
            <a:ext cx="1754267" cy="37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 add</a:t>
            </a:r>
            <a:endParaRPr lang="en-US" sz="2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2B15476-6895-3749-73E5-9743087396A5}"/>
              </a:ext>
            </a:extLst>
          </p:cNvPr>
          <p:cNvSpPr/>
          <p:nvPr/>
        </p:nvSpPr>
        <p:spPr>
          <a:xfrm>
            <a:off x="1227892" y="6119802"/>
            <a:ext cx="12946499" cy="465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Stages changes for the next commit, preparing them to be saved in the repository history.</a:t>
            </a:r>
            <a:endParaRPr lang="en-US" sz="2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3E7605D-30A2-3433-0B9C-0EFCDABEA37B}"/>
              </a:ext>
            </a:extLst>
          </p:cNvPr>
          <p:cNvSpPr/>
          <p:nvPr/>
        </p:nvSpPr>
        <p:spPr>
          <a:xfrm>
            <a:off x="1192768" y="5479256"/>
            <a:ext cx="12946499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2EE74C3-AE72-71DB-A5BA-005484DDBEDC}"/>
              </a:ext>
            </a:extLst>
          </p:cNvPr>
          <p:cNvSpPr/>
          <p:nvPr/>
        </p:nvSpPr>
        <p:spPr>
          <a:xfrm>
            <a:off x="1192768" y="6461522"/>
            <a:ext cx="12946499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6DFD3A-3110-4C2B-07F5-18EB6AE5823D}"/>
              </a:ext>
            </a:extLst>
          </p:cNvPr>
          <p:cNvSpPr txBox="1"/>
          <p:nvPr/>
        </p:nvSpPr>
        <p:spPr>
          <a:xfrm>
            <a:off x="12743727" y="7523544"/>
            <a:ext cx="1886673" cy="706056"/>
          </a:xfrm>
          <a:prstGeom prst="rect">
            <a:avLst/>
          </a:prstGeom>
          <a:solidFill>
            <a:srgbClr val="FCFB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0198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133" y="179366"/>
            <a:ext cx="6656070" cy="43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Essential Git Commands You Should Know</a:t>
            </a:r>
            <a:endParaRPr lang="en-US" sz="2750" dirty="0"/>
          </a:p>
        </p:txBody>
      </p:sp>
      <p:sp>
        <p:nvSpPr>
          <p:cNvPr id="10" name="Text 8"/>
          <p:cNvSpPr/>
          <p:nvPr/>
        </p:nvSpPr>
        <p:spPr>
          <a:xfrm>
            <a:off x="1192767" y="2583507"/>
            <a:ext cx="12946499" cy="465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91133" y="1377121"/>
            <a:ext cx="561380" cy="842010"/>
          </a:xfrm>
          <a:prstGeom prst="roundRect">
            <a:avLst>
              <a:gd name="adj" fmla="val 360013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6512" y="1659136"/>
            <a:ext cx="210503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5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66389" y="1491093"/>
            <a:ext cx="1754267" cy="361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 commit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27156" y="1985397"/>
            <a:ext cx="12946499" cy="438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Records staged changes to the repository with a descriptive message, creating a new version.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91073" y="3048564"/>
            <a:ext cx="561380" cy="842010"/>
          </a:xfrm>
          <a:prstGeom prst="roundRect">
            <a:avLst>
              <a:gd name="adj" fmla="val 360013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6512" y="3338005"/>
            <a:ext cx="210503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366389" y="2995773"/>
            <a:ext cx="1754267" cy="465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 push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352847" y="3491659"/>
            <a:ext cx="12946499" cy="438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Uploads your local commits to the remote repository on GitHub, sharing your work.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23196" y="4647373"/>
            <a:ext cx="561380" cy="842010"/>
          </a:xfrm>
          <a:prstGeom prst="roundRect">
            <a:avLst>
              <a:gd name="adj" fmla="val 360013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56448" y="4936814"/>
            <a:ext cx="210503" cy="263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7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482135" y="4695777"/>
            <a:ext cx="1754267" cy="438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2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git pull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1482135" y="5201208"/>
            <a:ext cx="12946499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Fetches changes from the remote repository and merges them into your current local branch.</a:t>
            </a:r>
            <a:endParaRPr lang="en-US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FE97A3-5C15-17F4-2E75-F0C5994AB873}"/>
              </a:ext>
            </a:extLst>
          </p:cNvPr>
          <p:cNvSpPr txBox="1"/>
          <p:nvPr/>
        </p:nvSpPr>
        <p:spPr>
          <a:xfrm>
            <a:off x="12743727" y="7407797"/>
            <a:ext cx="1886673" cy="821803"/>
          </a:xfrm>
          <a:prstGeom prst="rect">
            <a:avLst/>
          </a:prstGeom>
          <a:solidFill>
            <a:srgbClr val="FCFB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068" y="888325"/>
            <a:ext cx="12635984" cy="654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Working with GitHub in VS Code: Setup &amp; Integration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3068" y="1961674"/>
            <a:ext cx="13164264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Setting up your development environment by creating a GitHub repository and linking it with VS Code is a foundational step for efficient version control and collaboration.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47274" y="3705225"/>
            <a:ext cx="3934063" cy="209431"/>
          </a:xfrm>
          <a:prstGeom prst="roundRect">
            <a:avLst>
              <a:gd name="adj" fmla="val 15003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3068" y="3495794"/>
            <a:ext cx="628412" cy="628412"/>
          </a:xfrm>
          <a:prstGeom prst="roundRect">
            <a:avLst>
              <a:gd name="adj" fmla="val 72755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111" y="3652838"/>
            <a:ext cx="314206" cy="3142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2499" y="4333637"/>
            <a:ext cx="3603188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Create New GitHub Repository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42499" y="4786432"/>
            <a:ext cx="3829526" cy="234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 to GitHub.com, click 'New' to create a new repository. Name your project, choose visibility (public/private), and consider initializing it with a README file. This establishes your project's central remote location.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05093" y="3391019"/>
            <a:ext cx="3934182" cy="209431"/>
          </a:xfrm>
          <a:prstGeom prst="roundRect">
            <a:avLst>
              <a:gd name="adj" fmla="val 15003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190887" y="3181588"/>
            <a:ext cx="628412" cy="628412"/>
          </a:xfrm>
          <a:prstGeom prst="roundRect">
            <a:avLst>
              <a:gd name="adj" fmla="val 72755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7930" y="3338632"/>
            <a:ext cx="314206" cy="3142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0318" y="4019431"/>
            <a:ext cx="3178254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Clone to Your Local System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5400318" y="4472226"/>
            <a:ext cx="3829645" cy="202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 your GitHub repository page, copy the clone URL (HTTPS or SSH). Open your local terminal, navigate to your desired directory, and execute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[repository URL]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This downloads the entire project to your computer.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9963031" y="3076813"/>
            <a:ext cx="3934182" cy="209431"/>
          </a:xfrm>
          <a:prstGeom prst="roundRect">
            <a:avLst>
              <a:gd name="adj" fmla="val 15003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648825" y="2867382"/>
            <a:ext cx="628412" cy="628412"/>
          </a:xfrm>
          <a:prstGeom prst="roundRect">
            <a:avLst>
              <a:gd name="adj" fmla="val 72755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5868" y="3024426"/>
            <a:ext cx="314206" cy="3142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58256" y="3705225"/>
            <a:ext cx="2848689" cy="327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Open Project in VS Code</a:t>
            </a:r>
            <a:endParaRPr lang="en-US" sz="2050" dirty="0"/>
          </a:p>
        </p:txBody>
      </p:sp>
      <p:sp>
        <p:nvSpPr>
          <p:cNvPr id="18" name="Text 13"/>
          <p:cNvSpPr/>
          <p:nvPr/>
        </p:nvSpPr>
        <p:spPr>
          <a:xfrm>
            <a:off x="9858256" y="4158020"/>
            <a:ext cx="3829645" cy="2017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Once cloned, change your terminal's directory into the new project folder (e.g.,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cd my-project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). Type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code .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to open the folder directly in Visual Studio Code, or use File &gt; Open Folder from within VS Code.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7FF6B6-FAD9-7348-643D-624786C9C73C}"/>
              </a:ext>
            </a:extLst>
          </p:cNvPr>
          <p:cNvSpPr txBox="1"/>
          <p:nvPr/>
        </p:nvSpPr>
        <p:spPr>
          <a:xfrm>
            <a:off x="12801600" y="7535119"/>
            <a:ext cx="1828800" cy="694481"/>
          </a:xfrm>
          <a:prstGeom prst="rect">
            <a:avLst/>
          </a:prstGeom>
          <a:solidFill>
            <a:srgbClr val="FCFB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208" y="410289"/>
            <a:ext cx="9043392" cy="466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Staging, Committing, and Pushing Changes in VS Code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71393" y="1491734"/>
            <a:ext cx="149185" cy="934045"/>
          </a:xfrm>
          <a:prstGeom prst="roundRect">
            <a:avLst>
              <a:gd name="adj" fmla="val 1500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22208" y="1393865"/>
            <a:ext cx="447556" cy="447556"/>
          </a:xfrm>
          <a:prstGeom prst="roundRect">
            <a:avLst>
              <a:gd name="adj" fmla="val 102155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127" y="1505783"/>
            <a:ext cx="223718" cy="2237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8949" y="1417201"/>
            <a:ext cx="1865233" cy="23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Track Changes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18949" y="1799511"/>
            <a:ext cx="6014204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Source Control sidebar clearly displays all modified, added, or deleted files with status indicators.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95112" y="2798802"/>
            <a:ext cx="149185" cy="934045"/>
          </a:xfrm>
          <a:prstGeom prst="roundRect">
            <a:avLst>
              <a:gd name="adj" fmla="val 1500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745927" y="2700933"/>
            <a:ext cx="447556" cy="447556"/>
          </a:xfrm>
          <a:prstGeom prst="roundRect">
            <a:avLst>
              <a:gd name="adj" fmla="val 102155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845" y="2812852"/>
            <a:ext cx="223718" cy="2237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2668" y="2724269"/>
            <a:ext cx="1865233" cy="23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Stage Files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42668" y="3106579"/>
            <a:ext cx="5790486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Stage individual files using the plus icon or stage all changes at once, preparing them for the next commit.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1118949" y="4105870"/>
            <a:ext cx="149185" cy="934045"/>
          </a:xfrm>
          <a:prstGeom prst="roundRect">
            <a:avLst>
              <a:gd name="adj" fmla="val 1500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69764" y="4008001"/>
            <a:ext cx="447556" cy="447556"/>
          </a:xfrm>
          <a:prstGeom prst="roundRect">
            <a:avLst>
              <a:gd name="adj" fmla="val 102155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1683" y="4119920"/>
            <a:ext cx="223718" cy="2237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66505" y="4031337"/>
            <a:ext cx="1865233" cy="23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Commit with Message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566505" y="4413647"/>
            <a:ext cx="5566648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Craft clear commit messages in the designated box, then click the checkmark to save your staged changes.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1342787" y="5412938"/>
            <a:ext cx="149185" cy="934045"/>
          </a:xfrm>
          <a:prstGeom prst="roundRect">
            <a:avLst>
              <a:gd name="adj" fmla="val 1500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1193602" y="5315069"/>
            <a:ext cx="447556" cy="447556"/>
          </a:xfrm>
          <a:prstGeom prst="roundRect">
            <a:avLst>
              <a:gd name="adj" fmla="val 102155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5520" y="5426988"/>
            <a:ext cx="223718" cy="2237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90343" y="5338405"/>
            <a:ext cx="1865233" cy="23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Push to GitHub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790343" y="5720715"/>
            <a:ext cx="5342811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Upload your committed changes to the remote GitHub repository using the push button or command palette.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1118949" y="6720007"/>
            <a:ext cx="149185" cy="934045"/>
          </a:xfrm>
          <a:prstGeom prst="roundRect">
            <a:avLst>
              <a:gd name="adj" fmla="val 15004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969764" y="6622137"/>
            <a:ext cx="447556" cy="447556"/>
          </a:xfrm>
          <a:prstGeom prst="roundRect">
            <a:avLst>
              <a:gd name="adj" fmla="val 102155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1683" y="6734056"/>
            <a:ext cx="223718" cy="22371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66505" y="6645473"/>
            <a:ext cx="1865233" cy="23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Synchronize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1566505" y="7027783"/>
            <a:ext cx="5566648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Pull remote changes or synchronize your local branch with the remote with a single click for up-to-date code.</a:t>
            </a:r>
            <a:endParaRPr lang="en-US" sz="11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19455" y="1509786"/>
            <a:ext cx="6610945" cy="66109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333" y="445770"/>
            <a:ext cx="5568315" cy="506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Understanding Branches in Git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55" y="1382732"/>
            <a:ext cx="243126" cy="243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4065" y="1377791"/>
            <a:ext cx="2195989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Independent Workflows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94065" y="1793081"/>
            <a:ext cx="6023372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Branches allow you to develop new features or fix bugs in isolation without affecting the main codebase.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55" y="2641104"/>
            <a:ext cx="243126" cy="2431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4065" y="2636163"/>
            <a:ext cx="2356247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Main vs. Feature Branches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94065" y="3051453"/>
            <a:ext cx="6023372" cy="53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example, the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branch typically holds stable, production-ready code, while a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feature/login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branch can be used for developing a new login module.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333" y="4055269"/>
            <a:ext cx="243126" cy="2431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4065" y="4050209"/>
            <a:ext cx="2026444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Switching Context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094065" y="4426387"/>
            <a:ext cx="5264467" cy="28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Easily navigate between different lines of development using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55" y="4921270"/>
            <a:ext cx="243126" cy="2431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94065" y="4916329"/>
            <a:ext cx="2026444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Merging Work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094065" y="5331619"/>
            <a:ext cx="6023372" cy="53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Once a feature is complete, integrate it back into the main branch using </a:t>
            </a: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055" y="6194881"/>
            <a:ext cx="243126" cy="2431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94065" y="6189940"/>
            <a:ext cx="2026444" cy="25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Lightweight Pointers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094065" y="6605230"/>
            <a:ext cx="6023372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Branches are essentially lightweight pointers to commits, enabling efficient parallel development.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422" y="649913"/>
            <a:ext cx="6074978" cy="60749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41C715F-2A31-3EA4-6EE0-42CAC58C7920}"/>
              </a:ext>
            </a:extLst>
          </p:cNvPr>
          <p:cNvSpPr txBox="1"/>
          <p:nvPr/>
        </p:nvSpPr>
        <p:spPr>
          <a:xfrm>
            <a:off x="12709003" y="7523544"/>
            <a:ext cx="1828800" cy="706056"/>
          </a:xfrm>
          <a:prstGeom prst="rect">
            <a:avLst/>
          </a:prstGeom>
          <a:solidFill>
            <a:srgbClr val="FCFB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FA4669-AEEF-F65A-6964-4E712DFE7068}"/>
              </a:ext>
            </a:extLst>
          </p:cNvPr>
          <p:cNvSpPr txBox="1"/>
          <p:nvPr/>
        </p:nvSpPr>
        <p:spPr>
          <a:xfrm>
            <a:off x="983847" y="349197"/>
            <a:ext cx="13283137" cy="7971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Lora" pitchFamily="2" charset="0"/>
              </a:rPr>
              <a:t>Creating and Managing Branches in VS Code</a:t>
            </a:r>
          </a:p>
          <a:p>
            <a:endParaRPr lang="en-US" dirty="0">
              <a:latin typeface="Lora" pitchFamily="2" charset="0"/>
            </a:endParaRPr>
          </a:p>
          <a:p>
            <a:endParaRPr lang="en-US" dirty="0">
              <a:latin typeface="Lora" pitchFamily="2" charset="0"/>
            </a:endParaRPr>
          </a:p>
          <a:p>
            <a:r>
              <a:rPr lang="en-US" sz="2000" b="1" dirty="0">
                <a:latin typeface="Lora" pitchFamily="2" charset="0"/>
              </a:rPr>
              <a:t>01 Branch Selection</a:t>
            </a:r>
          </a:p>
          <a:p>
            <a:br>
              <a:rPr lang="en-US" dirty="0">
                <a:latin typeface="Lora" pitchFamily="2" charset="0"/>
              </a:rPr>
            </a:br>
            <a:r>
              <a:rPr lang="en-US" dirty="0">
                <a:latin typeface="Lora" pitchFamily="2" charset="0"/>
              </a:rPr>
              <a:t>	Click the current branch name in the bottom-left status bar to view all available branches.</a:t>
            </a:r>
          </a:p>
          <a:p>
            <a:endParaRPr lang="en-US" dirty="0">
              <a:latin typeface="Lora" pitchFamily="2" charset="0"/>
            </a:endParaRPr>
          </a:p>
          <a:p>
            <a:endParaRPr lang="en-US" dirty="0">
              <a:latin typeface="Lora" pitchFamily="2" charset="0"/>
            </a:endParaRPr>
          </a:p>
          <a:p>
            <a:r>
              <a:rPr lang="en-US" b="1" dirty="0">
                <a:latin typeface="Lora" pitchFamily="2" charset="0"/>
              </a:rPr>
              <a:t>02 New Branch Creation</a:t>
            </a:r>
          </a:p>
          <a:p>
            <a:br>
              <a:rPr lang="en-US" dirty="0">
                <a:latin typeface="Lora" pitchFamily="2" charset="0"/>
              </a:rPr>
            </a:br>
            <a:r>
              <a:rPr lang="en-US" dirty="0">
                <a:latin typeface="Lora" pitchFamily="2" charset="0"/>
              </a:rPr>
              <a:t>	Select </a:t>
            </a:r>
            <a:r>
              <a:rPr lang="en-US" b="1" dirty="0">
                <a:latin typeface="Lora" pitchFamily="2" charset="0"/>
              </a:rPr>
              <a:t>Create New Branch</a:t>
            </a:r>
            <a:r>
              <a:rPr lang="en-US" dirty="0">
                <a:latin typeface="Lora" pitchFamily="2" charset="0"/>
              </a:rPr>
              <a:t> and provide a clear, descriptive name for your feature or fix.</a:t>
            </a:r>
          </a:p>
          <a:p>
            <a:endParaRPr lang="en-US" dirty="0">
              <a:latin typeface="Lora" pitchFamily="2" charset="0"/>
            </a:endParaRPr>
          </a:p>
          <a:p>
            <a:endParaRPr lang="en-US" dirty="0">
              <a:latin typeface="Lora" pitchFamily="2" charset="0"/>
            </a:endParaRPr>
          </a:p>
          <a:p>
            <a:r>
              <a:rPr lang="en-US" b="1" dirty="0">
                <a:latin typeface="Lora" pitchFamily="2" charset="0"/>
              </a:rPr>
              <a:t>03 Instant Switching</a:t>
            </a:r>
            <a:br>
              <a:rPr lang="en-US" dirty="0">
                <a:latin typeface="Lora" pitchFamily="2" charset="0"/>
              </a:rPr>
            </a:br>
            <a:endParaRPr lang="en-US" dirty="0">
              <a:latin typeface="Lora" pitchFamily="2" charset="0"/>
            </a:endParaRPr>
          </a:p>
          <a:p>
            <a:r>
              <a:rPr lang="en-US" dirty="0">
                <a:latin typeface="Lora" pitchFamily="2" charset="0"/>
              </a:rPr>
              <a:t>	Switch between branches quickly and smoothly using the same intuitive menu.</a:t>
            </a:r>
          </a:p>
          <a:p>
            <a:endParaRPr lang="en-US" dirty="0">
              <a:latin typeface="Lora" pitchFamily="2" charset="0"/>
            </a:endParaRPr>
          </a:p>
          <a:p>
            <a:endParaRPr lang="en-US" dirty="0">
              <a:latin typeface="Lora" pitchFamily="2" charset="0"/>
            </a:endParaRPr>
          </a:p>
          <a:p>
            <a:r>
              <a:rPr lang="en-US" b="1" dirty="0">
                <a:latin typeface="Lora" pitchFamily="2" charset="0"/>
              </a:rPr>
              <a:t>04 Visual History</a:t>
            </a:r>
            <a:br>
              <a:rPr lang="en-US" dirty="0">
                <a:latin typeface="Lora" pitchFamily="2" charset="0"/>
              </a:rPr>
            </a:br>
            <a:endParaRPr lang="en-US" dirty="0">
              <a:latin typeface="Lora" pitchFamily="2" charset="0"/>
            </a:endParaRPr>
          </a:p>
          <a:p>
            <a:r>
              <a:rPr lang="en-US" dirty="0">
                <a:latin typeface="Lora" pitchFamily="2" charset="0"/>
              </a:rPr>
              <a:t>	The Source Control panel visually displays branch history, making it easy to track commits and progress.</a:t>
            </a:r>
          </a:p>
          <a:p>
            <a:endParaRPr lang="en-US" dirty="0">
              <a:latin typeface="Lora" pitchFamily="2" charset="0"/>
            </a:endParaRPr>
          </a:p>
          <a:p>
            <a:endParaRPr lang="en-US" dirty="0">
              <a:latin typeface="Lora" pitchFamily="2" charset="0"/>
            </a:endParaRPr>
          </a:p>
          <a:p>
            <a:r>
              <a:rPr lang="en-US" b="1" dirty="0">
                <a:latin typeface="Lora" pitchFamily="2" charset="0"/>
              </a:rPr>
              <a:t>05 Integrate with Issues</a:t>
            </a:r>
            <a:br>
              <a:rPr lang="en-US" dirty="0">
                <a:latin typeface="Lora" pitchFamily="2" charset="0"/>
              </a:rPr>
            </a:br>
            <a:endParaRPr lang="en-US" dirty="0">
              <a:latin typeface="Lora" pitchFamily="2" charset="0"/>
            </a:endParaRPr>
          </a:p>
          <a:p>
            <a:r>
              <a:rPr lang="en-US" dirty="0">
                <a:latin typeface="Lora" pitchFamily="2" charset="0"/>
              </a:rPr>
              <a:t>	Use the GitHub Pull Requests extension to create branches directly from issues, keeping work perfect</a:t>
            </a:r>
          </a:p>
          <a:p>
            <a:endParaRPr lang="en-US" dirty="0">
              <a:latin typeface="Lor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E0E983-F343-69B1-6EE0-957ACF9F3813}"/>
              </a:ext>
            </a:extLst>
          </p:cNvPr>
          <p:cNvSpPr txBox="1"/>
          <p:nvPr/>
        </p:nvSpPr>
        <p:spPr>
          <a:xfrm>
            <a:off x="12685853" y="7407797"/>
            <a:ext cx="1851950" cy="717631"/>
          </a:xfrm>
          <a:prstGeom prst="rect">
            <a:avLst/>
          </a:prstGeom>
          <a:solidFill>
            <a:srgbClr val="FCFB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063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500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Handling Merge Conflicts and Pull Requests in VS Code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36188"/>
            <a:ext cx="13042821" cy="4428411"/>
          </a:xfrm>
          <a:prstGeom prst="roundRect">
            <a:avLst>
              <a:gd name="adj" fmla="val 768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3790" y="2824613"/>
            <a:ext cx="4347567" cy="2395657"/>
          </a:xfrm>
          <a:prstGeom prst="roundRect">
            <a:avLst>
              <a:gd name="adj" fmla="val 1420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0604" y="3063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Identify Conflicts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553420"/>
            <a:ext cx="355377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VS Code automatically highlights merge conflicts in the Source Control panel under "Merge Changes".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141357" y="2836188"/>
            <a:ext cx="4347567" cy="2395657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141357" y="2836188"/>
            <a:ext cx="30480" cy="2395657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08333" y="3063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Resolve with Editor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08333" y="3553420"/>
            <a:ext cx="32136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 the integrated merge editor to compare conflicting changes side-by-side and choose the desired code.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4857869" y="3750469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9488924" y="2836188"/>
            <a:ext cx="4347567" cy="2395657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9488924" y="2836188"/>
            <a:ext cx="30480" cy="2395657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0055900" y="30630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Commit Resolution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055900" y="3553420"/>
            <a:ext cx="355377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After resolving all conflicts, commit the merge to finalize the integration of changes.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9205436" y="3750469"/>
            <a:ext cx="566976" cy="566976"/>
          </a:xfrm>
          <a:prstGeom prst="roundRect">
            <a:avLst>
              <a:gd name="adj" fmla="val 6001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93790" y="5231844"/>
            <a:ext cx="6521291" cy="2032754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793790" y="5231844"/>
            <a:ext cx="6521291" cy="30480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1020604" y="5458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Create Pull Requests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1020604" y="5949077"/>
            <a:ext cx="572750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Initiate pull requests directly from VS Code to propose your changes for review and merging into main branches.</a:t>
            </a:r>
            <a:endParaRPr lang="en-US" sz="1750" dirty="0"/>
          </a:p>
        </p:txBody>
      </p:sp>
      <p:sp>
        <p:nvSpPr>
          <p:cNvPr id="23" name="Shape 19"/>
          <p:cNvSpPr/>
          <p:nvPr/>
        </p:nvSpPr>
        <p:spPr>
          <a:xfrm>
            <a:off x="7315081" y="5231844"/>
            <a:ext cx="6521410" cy="2032754"/>
          </a:xfrm>
          <a:prstGeom prst="rect">
            <a:avLst/>
          </a:prstGeom>
          <a:solidFill>
            <a:srgbClr val="F0E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7315081" y="5231844"/>
            <a:ext cx="30480" cy="2032754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7315081" y="5231844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7882057" y="5458658"/>
            <a:ext cx="33182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Review &amp; Merge In-Editor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7882057" y="5949077"/>
            <a:ext cx="57276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code, add comments, and merge pull requests all without ever leaving your VS Code environment.</a:t>
            </a:r>
            <a:endParaRPr lang="en-US" sz="17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3278" y="6106358"/>
            <a:ext cx="283488" cy="28348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D97F0E3-C3E8-012C-2B16-44F132165DA8}"/>
              </a:ext>
            </a:extLst>
          </p:cNvPr>
          <p:cNvSpPr txBox="1"/>
          <p:nvPr/>
        </p:nvSpPr>
        <p:spPr>
          <a:xfrm>
            <a:off x="12891135" y="7535119"/>
            <a:ext cx="1739265" cy="694481"/>
          </a:xfrm>
          <a:prstGeom prst="rect">
            <a:avLst/>
          </a:prstGeom>
          <a:solidFill>
            <a:srgbClr val="FCFB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209" y="414218"/>
            <a:ext cx="3947398" cy="470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Summary &amp; Next Steps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920749" y="1211957"/>
            <a:ext cx="1883093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Takeaways: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20749" y="2066695"/>
            <a:ext cx="6604278" cy="24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&amp; GitHub:</a:t>
            </a:r>
            <a:r>
              <a:rPr lang="en-US" sz="2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Essential for collaborative, efficient code management</a:t>
            </a:r>
          </a:p>
          <a:p>
            <a:pPr algn="l">
              <a:lnSpc>
                <a:spcPts val="1850"/>
              </a:lnSpc>
              <a:buSzPct val="100000"/>
            </a:pPr>
            <a:r>
              <a:rPr lang="en-US" sz="2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 rot="10800000" flipV="1">
            <a:off x="920749" y="2870151"/>
            <a:ext cx="11664791" cy="135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VS Code Integration:</a:t>
            </a:r>
            <a:r>
              <a:rPr lang="en-US" sz="2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Simplifies everyday Git and GitHub workflows.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20749" y="3729960"/>
            <a:ext cx="6604278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Branching:</a:t>
            </a:r>
            <a:r>
              <a:rPr lang="en-US" sz="2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Master this to safely develop features and fixes in parallel.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20749" y="4815068"/>
            <a:ext cx="6604278" cy="685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Seamless Collaboration:</a:t>
            </a:r>
            <a:r>
              <a:rPr lang="en-US" sz="2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Use GitHub integration for streamlined code reviews.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16675" y="3126819"/>
            <a:ext cx="5964198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055FA8-1215-8E16-B19B-1F8BEF754F3B}"/>
              </a:ext>
            </a:extLst>
          </p:cNvPr>
          <p:cNvSpPr txBox="1"/>
          <p:nvPr/>
        </p:nvSpPr>
        <p:spPr>
          <a:xfrm>
            <a:off x="12585540" y="7419372"/>
            <a:ext cx="2044860" cy="729205"/>
          </a:xfrm>
          <a:prstGeom prst="rect">
            <a:avLst/>
          </a:prstGeom>
          <a:solidFill>
            <a:srgbClr val="FCFBF8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991</Words>
  <Application>Microsoft Office PowerPoint</Application>
  <PresentationFormat>Custom</PresentationFormat>
  <Paragraphs>119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Alice</vt:lpstr>
      <vt:lpstr>Lora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Avinash sudhimalla</cp:lastModifiedBy>
  <cp:revision>8</cp:revision>
  <dcterms:created xsi:type="dcterms:W3CDTF">2025-12-16T12:20:56Z</dcterms:created>
  <dcterms:modified xsi:type="dcterms:W3CDTF">2025-12-17T12:18:19Z</dcterms:modified>
</cp:coreProperties>
</file>